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92" r:id="rId8"/>
    <p:sldId id="293" r:id="rId9"/>
    <p:sldId id="261" r:id="rId10"/>
    <p:sldId id="263" r:id="rId11"/>
    <p:sldId id="294" r:id="rId12"/>
    <p:sldId id="295" r:id="rId13"/>
    <p:sldId id="264" r:id="rId14"/>
    <p:sldId id="266" r:id="rId15"/>
    <p:sldId id="290" r:id="rId16"/>
    <p:sldId id="291" r:id="rId17"/>
    <p:sldId id="289" r:id="rId18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4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anchor="t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</a:t>
            </a:r>
            <a:r>
              <a:rPr lang="zh-CN" alt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zh-CN" alt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</a:t>
            </a:r>
            <a:endParaRPr lang="zh-CN" alt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2026-03-23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 Introduction</a:t>
            </a:r>
            <a:endParaRPr lang="en-US" altLang="zh-CN" dirty="0"/>
          </a:p>
          <a:p>
            <a:r>
              <a:rPr lang="en-US" altLang="zh-CN" dirty="0"/>
              <a:t>2 Installation</a:t>
            </a:r>
            <a:endParaRPr lang="en-US" altLang="zh-CN" dirty="0"/>
          </a:p>
          <a:p>
            <a:r>
              <a:rPr lang="en-US" altLang="zh-CN" dirty="0"/>
              <a:t>3 Export meshes and voxels</a:t>
            </a:r>
            <a:endParaRPr lang="en-US" altLang="zh-CN" dirty="0"/>
          </a:p>
          <a:p>
            <a:r>
              <a:rPr lang="en-US" altLang="zh-CN" dirty="0"/>
              <a:t>4 Running the tool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 Introduction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tool is developed for identifying fire hazard. Currently the tool only support Revit 2018.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altLang="zh-CN" dirty="0"/>
              <a:t>2 Installation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51579" y="2015734"/>
            <a:ext cx="4158849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1900" dirty="0"/>
              <a:t>The tool is run by the Revit </a:t>
            </a:r>
            <a:r>
              <a:rPr lang="en-US" altLang="zh-CN" sz="1900" dirty="0" err="1"/>
              <a:t>Addin</a:t>
            </a:r>
            <a:r>
              <a:rPr lang="en-US" altLang="zh-CN" sz="1900" dirty="0"/>
              <a:t> Manager, which is an add-in for Revit. If you have not install the </a:t>
            </a:r>
            <a:r>
              <a:rPr lang="en-US" altLang="zh-CN" sz="1900" dirty="0" err="1"/>
              <a:t>Addin</a:t>
            </a:r>
            <a:r>
              <a:rPr lang="en-US" altLang="zh-CN" sz="1900" dirty="0"/>
              <a:t> Manager, please quit the Revit application, copy all the files in the </a:t>
            </a:r>
            <a:r>
              <a:rPr lang="en-US" altLang="zh-CN" sz="1900" dirty="0" err="1"/>
              <a:t>AddinManager</a:t>
            </a:r>
            <a:r>
              <a:rPr lang="en-US" altLang="zh-CN" sz="1900" dirty="0"/>
              <a:t> to the folder C:\ProgramData\Autodesk\Revit\Addins\[your Revit version]\, and restart the Revit application. Then you can find it appears in the Add-Ins Tabs</a:t>
            </a:r>
            <a:endParaRPr lang="en-US" altLang="zh-CN" sz="1900" dirty="0"/>
          </a:p>
          <a:p>
            <a:pPr>
              <a:lnSpc>
                <a:spcPct val="110000"/>
              </a:lnSpc>
            </a:pPr>
            <a:endParaRPr lang="zh-CN" altLang="en-US" sz="19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1077" y="2685150"/>
            <a:ext cx="4613872" cy="1614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7245" y="2924175"/>
            <a:ext cx="3908425" cy="30276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945" y="3201670"/>
            <a:ext cx="2800985" cy="28809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Installation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3140" y="2015490"/>
            <a:ext cx="10861675" cy="3450590"/>
          </a:xfrm>
        </p:spPr>
        <p:txBody>
          <a:bodyPr/>
          <a:lstStyle/>
          <a:p>
            <a:r>
              <a:rPr lang="en-US" altLang="zh-CN" dirty="0"/>
              <a:t>Click the “Add-In Manager</a:t>
            </a:r>
            <a:r>
              <a:rPr lang="zh-CN" altLang="en-US" dirty="0"/>
              <a:t>（</a:t>
            </a:r>
            <a:r>
              <a:rPr lang="en-US" altLang="zh-CN" dirty="0"/>
              <a:t>Manual Mode</a:t>
            </a:r>
            <a:r>
              <a:rPr lang="zh-CN" altLang="en-US" dirty="0"/>
              <a:t>）” </a:t>
            </a:r>
            <a:r>
              <a:rPr lang="en-US" altLang="zh-CN" dirty="0"/>
              <a:t>, Click “Load”, choose the SiteHazardIdentifier.</a:t>
            </a:r>
            <a:r>
              <a:rPr lang="en-US" altLang="zh-CN" dirty="0" err="1"/>
              <a:t>dll</a:t>
            </a:r>
            <a:r>
              <a:rPr lang="en-US" altLang="zh-CN" dirty="0"/>
              <a:t> of "Supplementary Materials\Compiled\Debug\" folder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画布 5"/>
          <p:cNvSpPr>
            <a:spLocks noChangeAspect="1"/>
          </p:cNvSpPr>
          <p:nvPr/>
        </p:nvSpPr>
        <p:spPr>
          <a:xfrm>
            <a:off x="827405" y="2757805"/>
            <a:ext cx="11299190" cy="3599815"/>
          </a:xfrm>
        </p:spPr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839470" y="2924175"/>
            <a:ext cx="3428365" cy="31584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直接箭头连接符 9"/>
          <p:cNvCxnSpPr/>
          <p:nvPr/>
        </p:nvCxnSpPr>
        <p:spPr>
          <a:xfrm>
            <a:off x="3495675" y="4318000"/>
            <a:ext cx="9937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8367395" y="4318000"/>
            <a:ext cx="9937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3 Export meshes and voxels</a:t>
            </a:r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1451610" y="2051050"/>
            <a:ext cx="4547870" cy="34150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1" dirty="0"/>
              <a:t>1st Export mesh</a:t>
            </a:r>
            <a:endParaRPr lang="en-US" altLang="zh-CN" sz="2800" b="1" dirty="0"/>
          </a:p>
          <a:p>
            <a:pPr>
              <a:lnSpc>
                <a:spcPct val="110000"/>
              </a:lnSpc>
            </a:pPr>
            <a:r>
              <a:rPr lang="en-US" altLang="zh-CN" sz="1900" dirty="0"/>
              <a:t>Click “Get meshes” to export meshes visible in current view.</a:t>
            </a:r>
            <a:endParaRPr lang="en-US" altLang="zh-CN" sz="1900" dirty="0"/>
          </a:p>
          <a:p>
            <a:pPr>
              <a:lnSpc>
                <a:spcPct val="110000"/>
              </a:lnSpc>
            </a:pPr>
            <a:r>
              <a:rPr lang="en-US" altLang="zh-CN" sz="1900" dirty="0"/>
              <a:t>Note: The elements in either the main model and the linked models can be exported.</a:t>
            </a:r>
            <a:endParaRPr lang="en-US" altLang="zh-CN" sz="1900" dirty="0"/>
          </a:p>
          <a:p>
            <a:pPr>
              <a:lnSpc>
                <a:spcPct val="110000"/>
              </a:lnSpc>
            </a:pPr>
            <a:r>
              <a:rPr lang="en-US" altLang="zh-CN" sz="1900" dirty="0"/>
              <a:t>The exported meshes are stored as a fireRiskData file. This is a zipped file and can be opened by compression tools such as winRAR.</a:t>
            </a:r>
            <a:endParaRPr lang="en-US" altLang="zh-CN" sz="1900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49315" y="2141220"/>
            <a:ext cx="5633085" cy="3324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3 Export meshes and voxels</a:t>
            </a:r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1451610" y="1853565"/>
            <a:ext cx="9783445" cy="209359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1" dirty="0"/>
              <a:t>2nd Convert mesh to voxels</a:t>
            </a:r>
            <a:endParaRPr lang="en-US" altLang="zh-CN" sz="2800" b="1" dirty="0"/>
          </a:p>
          <a:p>
            <a:pPr>
              <a:lnSpc>
                <a:spcPct val="110000"/>
              </a:lnSpc>
            </a:pPr>
            <a:r>
              <a:rPr lang="en-US" altLang="zh-CN" sz="1900" dirty="0"/>
              <a:t>Click “Voxelize” .</a:t>
            </a:r>
            <a:endParaRPr lang="en-US" altLang="zh-CN" sz="1900" dirty="0"/>
          </a:p>
          <a:p>
            <a:pPr>
              <a:lnSpc>
                <a:spcPct val="110000"/>
              </a:lnSpc>
            </a:pPr>
            <a:r>
              <a:rPr lang="en-US" altLang="zh-CN" sz="1900" dirty="0"/>
              <a:t>Choose the mesh file exported in the previous step</a:t>
            </a:r>
            <a:endParaRPr lang="en-US" altLang="zh-CN" sz="1900" dirty="0"/>
          </a:p>
          <a:p>
            <a:pPr>
              <a:lnSpc>
                <a:spcPct val="110000"/>
              </a:lnSpc>
            </a:pPr>
            <a:r>
              <a:rPr lang="en-US" altLang="zh-CN" sz="1900" dirty="0"/>
              <a:t>Set a destination to save the voxel fire</a:t>
            </a:r>
            <a:endParaRPr lang="en-US" altLang="zh-CN" sz="1900" dirty="0"/>
          </a:p>
          <a:p>
            <a:pPr>
              <a:lnSpc>
                <a:spcPct val="110000"/>
              </a:lnSpc>
            </a:pPr>
            <a:r>
              <a:rPr lang="en-US" altLang="zh-CN" sz="1900" dirty="0"/>
              <a:t>Wait until the voxelization process is done.</a:t>
            </a:r>
            <a:endParaRPr lang="en-US" altLang="zh-CN" sz="19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3430" y="1751965"/>
            <a:ext cx="7741285" cy="48647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175" y="1751965"/>
            <a:ext cx="7622540" cy="5106670"/>
          </a:xfrm>
          <a:prstGeom prst="rect">
            <a:avLst/>
          </a:prstGeom>
        </p:spPr>
      </p:pic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13430" y="1751965"/>
            <a:ext cx="8198485" cy="49625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430" y="1751965"/>
            <a:ext cx="9004935" cy="5107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Running the tool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en-US" altLang="zh-CN" baseline="30000" dirty="0"/>
              <a:t>st</a:t>
            </a:r>
            <a:r>
              <a:rPr lang="en-US" altLang="zh-CN" dirty="0"/>
              <a:t> Select the </a:t>
            </a:r>
            <a:r>
              <a:rPr lang="en-US" altLang="zh-CN" i="1" dirty="0"/>
              <a:t>SiteHazardIdentifier.IdentifyHazardRisk</a:t>
            </a:r>
            <a:r>
              <a:rPr lang="en-US" altLang="zh-CN" dirty="0"/>
              <a:t> from the Add-in Manager, then click Run. The main form of the tool will appear.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画布 11"/>
          <p:cNvSpPr>
            <a:spLocks noChangeAspect="1"/>
          </p:cNvSpPr>
          <p:nvPr/>
        </p:nvSpPr>
        <p:spPr>
          <a:xfrm>
            <a:off x="1697990" y="2915920"/>
            <a:ext cx="8126730" cy="3450590"/>
          </a:xfrm>
        </p:spPr>
      </p:sp>
      <p:cxnSp>
        <p:nvCxnSpPr>
          <p:cNvPr id="8" name="直接箭头连接符 7"/>
          <p:cNvCxnSpPr/>
          <p:nvPr/>
        </p:nvCxnSpPr>
        <p:spPr>
          <a:xfrm>
            <a:off x="4480560" y="4469765"/>
            <a:ext cx="71628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940" y="2968625"/>
            <a:ext cx="3107055" cy="30232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971" y="2915920"/>
            <a:ext cx="5282089" cy="31375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Running the tool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en-US" altLang="zh-CN" baseline="30000" dirty="0"/>
              <a:t>nd </a:t>
            </a:r>
            <a:r>
              <a:rPr lang="en-US" altLang="zh-CN" dirty="0"/>
              <a:t>click the </a:t>
            </a:r>
            <a:r>
              <a:rPr lang="zh-CN" altLang="en-US" dirty="0"/>
              <a:t>“</a:t>
            </a:r>
            <a:r>
              <a:rPr lang="en-US" altLang="zh-CN" dirty="0"/>
              <a:t>Load voxel</a:t>
            </a:r>
            <a:r>
              <a:rPr lang="zh-CN" altLang="en-US" dirty="0"/>
              <a:t>”</a:t>
            </a:r>
            <a:r>
              <a:rPr lang="en-US" altLang="zh-CN" dirty="0"/>
              <a:t>.  Choose the </a:t>
            </a:r>
            <a:r>
              <a:rPr lang="en-US" altLang="zh-CN" dirty="0" err="1"/>
              <a:t>fireLiteVox</a:t>
            </a:r>
            <a:r>
              <a:rPr lang="en-US" altLang="zh-CN" dirty="0"/>
              <a:t> file exported previously . Wait until the voxels are loaded.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07" y="2848991"/>
            <a:ext cx="3829638" cy="26173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561" y="2848991"/>
            <a:ext cx="3880579" cy="261726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116" y="2848991"/>
            <a:ext cx="3781884" cy="2617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5" name="直接箭头连接符 14"/>
          <p:cNvCxnSpPr/>
          <p:nvPr/>
        </p:nvCxnSpPr>
        <p:spPr>
          <a:xfrm>
            <a:off x="3942945" y="4041843"/>
            <a:ext cx="55523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7996136" y="4041843"/>
            <a:ext cx="55523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Running the tool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1674294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en-US" altLang="zh-CN" baseline="30000" dirty="0"/>
              <a:t>nd</a:t>
            </a:r>
            <a:r>
              <a:rPr lang="zh-CN" altLang="en-US" dirty="0"/>
              <a:t>（</a:t>
            </a:r>
            <a:r>
              <a:rPr lang="en-US" altLang="zh-CN" dirty="0"/>
              <a:t>Optional</a:t>
            </a:r>
            <a:r>
              <a:rPr lang="zh-CN" altLang="en-US" dirty="0"/>
              <a:t>）</a:t>
            </a:r>
            <a:r>
              <a:rPr lang="en-US" altLang="zh-CN" dirty="0"/>
              <a:t>If you</a:t>
            </a:r>
            <a:r>
              <a:rPr lang="zh-CN" altLang="en-US" dirty="0"/>
              <a:t> </a:t>
            </a:r>
            <a:r>
              <a:rPr lang="en-US" altLang="zh-CN" dirty="0"/>
              <a:t>hope</a:t>
            </a:r>
            <a:r>
              <a:rPr lang="zh-CN" altLang="en-US" dirty="0"/>
              <a:t> </a:t>
            </a:r>
            <a:r>
              <a:rPr lang="en-US" altLang="zh-CN" dirty="0"/>
              <a:t>to visualize the voxel representation of the model, click “Yes”, </a:t>
            </a:r>
            <a:r>
              <a:rPr lang="en-US" altLang="zh-CN" dirty="0" err="1"/>
              <a:t>otherwise,Click</a:t>
            </a:r>
            <a:r>
              <a:rPr lang="en-US" altLang="zh-CN" dirty="0"/>
              <a:t> “No”. If the model is very large, visualizing the voxels may consume a large amount of time and resource, so it is not suggest to click Yes for larger BIM model.</a:t>
            </a: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Running the tool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en-US" altLang="zh-CN" baseline="30000" dirty="0"/>
              <a:t>rd</a:t>
            </a:r>
            <a:r>
              <a:rPr lang="en-US" altLang="zh-CN" dirty="0"/>
              <a:t>, Prepare for the WBS activities in csv format as</a:t>
            </a:r>
            <a:r>
              <a:rPr lang="zh-CN" altLang="en-US" dirty="0"/>
              <a:t> </a:t>
            </a:r>
            <a:r>
              <a:rPr lang="en-US" altLang="zh-CN" dirty="0"/>
              <a:t>follows, make sure the ID of each activity starts with “A”</a:t>
            </a:r>
            <a:endParaRPr lang="en-US" altLang="zh-CN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451579" y="2922905"/>
          <a:ext cx="9916819" cy="10121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1529"/>
                <a:gridCol w="901529"/>
                <a:gridCol w="633557"/>
                <a:gridCol w="856034"/>
                <a:gridCol w="823608"/>
                <a:gridCol w="745787"/>
                <a:gridCol w="1011677"/>
                <a:gridCol w="1338511"/>
                <a:gridCol w="901529"/>
                <a:gridCol w="901529"/>
                <a:gridCol w="901529"/>
              </a:tblGrid>
              <a:tr h="9004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Resource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Work type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ElementId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Start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Contains combustible substances(Yes/No)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Involve flames or Sparks or high-temperature(Yes/No)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Release flammable vapors or gases or liquids (Yes/No)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Reason(Less than 50 </a:t>
                      </a:r>
                      <a:r>
                        <a:rPr lang="en-US" sz="1100" u="none" strike="noStrike" dirty="0" err="1">
                          <a:effectLst/>
                        </a:rPr>
                        <a:t>words.Use</a:t>
                      </a:r>
                      <a:r>
                        <a:rPr lang="en-US" sz="1100" u="none" strike="noStrike" dirty="0">
                          <a:effectLst/>
                        </a:rPr>
                        <a:t> semicolons to replace commas)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Running the tool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en-US" altLang="zh-CN" baseline="30000" dirty="0"/>
              <a:t>th</a:t>
            </a:r>
            <a:r>
              <a:rPr lang="en-US" altLang="zh-CN" dirty="0"/>
              <a:t>, Click the “Load WBS Data” button, choose the WBS file in csv formats. Wait until the data are loaded. </a:t>
            </a:r>
            <a:endParaRPr lang="en-US" altLang="zh-CN" dirty="0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4337469" y="4549458"/>
            <a:ext cx="535305" cy="12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7761389" y="4550728"/>
            <a:ext cx="535305" cy="12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3879" y="3361373"/>
            <a:ext cx="2938145" cy="2164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694" y="3361373"/>
            <a:ext cx="3590925" cy="2266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94" y="3361373"/>
            <a:ext cx="391414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Running the tool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en-US" altLang="zh-CN" baseline="30000" dirty="0"/>
              <a:t>th</a:t>
            </a:r>
            <a:r>
              <a:rPr lang="en-US" altLang="zh-CN" dirty="0"/>
              <a:t> Click “Fire hazard Identification”. Wait until the process is over. You can save the result by clicking “Yes” of the pop-up dialogue for the validation check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5880" y="2818130"/>
            <a:ext cx="5209540" cy="3353435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>
            <a:off x="5776595" y="4800600"/>
            <a:ext cx="74866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" y="2906395"/>
            <a:ext cx="5334635" cy="317754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H="1">
            <a:off x="1962785" y="4874895"/>
            <a:ext cx="592455" cy="4076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Running the tool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en-US" altLang="zh-CN" baseline="30000" dirty="0"/>
              <a:t>th</a:t>
            </a:r>
            <a:r>
              <a:rPr lang="en-US" altLang="zh-CN" dirty="0"/>
              <a:t> Click “Visualize” to check the colored representation of the model. Note: Data will only generated on the main model, the linked model, even voxelized, cannot attatch data.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7585" y="2797810"/>
            <a:ext cx="3507740" cy="3208655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V="1">
            <a:off x="6737985" y="4572635"/>
            <a:ext cx="535305" cy="12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Running the tool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en-US" altLang="zh-CN" baseline="30000" dirty="0"/>
              <a:t>th</a:t>
            </a:r>
            <a:r>
              <a:rPr lang="en-US" altLang="zh-CN" dirty="0"/>
              <a:t> Click any element to check its detailed fire hazard information.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085" y="2681605"/>
            <a:ext cx="4930775" cy="32905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450" y="2555875"/>
            <a:ext cx="4526915" cy="3550285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>
            <a:off x="5673725" y="4574540"/>
            <a:ext cx="145923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210516" y="2967335"/>
            <a:ext cx="37709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you!</a:t>
            </a:r>
            <a:endParaRPr lang="zh-CN" alt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2ZlNjk1ZDAyZWE0ZmZjN2RiNDU0NzkzYWVjYWVhODYifQ=="/>
</p:tagLst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2789</Words>
  <Application>WPS 演示</Application>
  <PresentationFormat>宽屏</PresentationFormat>
  <Paragraphs>98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Times New Roman</vt:lpstr>
      <vt:lpstr>Calibri</vt:lpstr>
      <vt:lpstr>Gill Sans MT</vt:lpstr>
      <vt:lpstr>微软雅黑</vt:lpstr>
      <vt:lpstr>Arial Unicode MS</vt:lpstr>
      <vt:lpstr>等线 Light</vt:lpstr>
      <vt:lpstr>等线</vt:lpstr>
      <vt:lpstr>画廊</vt:lpstr>
      <vt:lpstr>Instructions to users</vt:lpstr>
      <vt:lpstr>Content</vt:lpstr>
      <vt:lpstr>I Introduction</vt:lpstr>
      <vt:lpstr>2 Installation</vt:lpstr>
      <vt:lpstr>2 Installation</vt:lpstr>
      <vt:lpstr>3 Export meshes and voxels</vt:lpstr>
      <vt:lpstr>3 Export meshes and voxels</vt:lpstr>
      <vt:lpstr>4 Running the tool</vt:lpstr>
      <vt:lpstr>4 Running the tool</vt:lpstr>
      <vt:lpstr>4 Running the tool</vt:lpstr>
      <vt:lpstr>4 Running the tool</vt:lpstr>
      <vt:lpstr>4 Running the tool</vt:lpstr>
      <vt:lpstr>4 Running the tool</vt:lpstr>
      <vt:lpstr>4 Running the tool</vt:lpstr>
      <vt:lpstr>4 Running the tool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to users</dc:title>
  <dc:creator>GZ</dc:creator>
  <cp:lastModifiedBy>guozeng</cp:lastModifiedBy>
  <cp:revision>34</cp:revision>
  <dcterms:created xsi:type="dcterms:W3CDTF">2024-01-19T13:52:00Z</dcterms:created>
  <dcterms:modified xsi:type="dcterms:W3CDTF">2026-06-14T05:53:28Z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33E873B1BEF14E98B238EC1BA26BB340_12</vt:lpwstr>
  </property>
  <property fmtid="{D5CDD505-2E9C-101B-9397-08002B2CF9AE}" pid="3" name="KSOProductBuildVer">
    <vt:lpwstr>2052-12.1.0.26895</vt:lpwstr>
  </property>
</Properties>
</file>